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4" r:id="rId7"/>
    <p:sldId id="263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6" d="100"/>
          <a:sy n="76" d="100"/>
        </p:scale>
        <p:origin x="887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3DD4B-1196-4E00-9109-0846EA9A0A1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A5422-2CD8-46F5-8AF8-18EFF82492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40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Клиент – пользователь, который ищет специалистов, получает консультации и проходит обучение</a:t>
            </a:r>
            <a:br>
              <a:rPr lang="ru-RU" dirty="0"/>
            </a:br>
            <a:r>
              <a:rPr lang="ru-RU" dirty="0"/>
              <a:t>Специалист – эксперт, предоставляющий консультационные услуги и обучающие материалы</a:t>
            </a:r>
            <a:br>
              <a:rPr lang="ru-RU" dirty="0"/>
            </a:br>
            <a:r>
              <a:rPr lang="ru-RU" dirty="0"/>
              <a:t>Администратор – модератор и контролёр, обеспечивающий безопасность и корректную работу платформы</a:t>
            </a:r>
          </a:p>
          <a:p>
            <a:r>
              <a:rPr lang="ru-RU" dirty="0"/>
              <a:t>Владелец платформы – управляет бизнесом и отвечает за финансовую стабильность и развитие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54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92C7-8560-51E3-1096-9D2BD0E6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925C8B-024D-2604-AD97-AA479DE5A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47BE1F3-7807-0EE0-E460-6FD840607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4707C3-8462-FD02-EAAB-917109B02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222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5DCA-6F1E-3B48-B847-3C0E6315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832B3E-5A37-A2A2-248B-05F730264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A99C27-88BF-5D25-4D16-53D199D84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DA75E6-8CB5-8F67-E2A2-9F7D30E37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03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B625-10C1-7014-3FB8-2D3E8C7A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B91D6F-5FB4-8251-7BAE-F24117EE9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62CF4B-12D6-B56C-0F1C-A40DD4997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4252EA-0F94-933C-74BD-F55893878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10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B0F3-7784-097A-F5D0-E2041193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5BB851-E2F9-731E-BF46-2E119E91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1487C3-F7F3-24EC-0192-4BA8F12DB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87F79D-4F19-4B8D-746A-B6B533AC4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16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C838-2760-71A0-4137-B8B8E4C9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B33F7D-1B76-3953-66B8-A0ED710B5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BEA819-E7EE-3929-0240-F992902E1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F76559-14D3-F840-CEDE-B5D7AFC59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705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4ECF-7E8C-FCC4-C1CE-3A7223A8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C5F436-8C85-6F9E-4830-FF1D2C68A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0EEF18-15A2-FFB9-87E8-159AA8051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CAD9AA-5E62-F42F-53C4-60FF2642E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825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6A14-4399-6E2C-70F3-1DCE912F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D17EE3-CEED-DB74-79D6-71F6DFEC2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A22D7D-2AFF-0A67-4878-5E705281E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F7E491-6417-AFBC-CBC5-86C620F2D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09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5B10E-51A1-BEB6-5188-BBCF8849F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1C2282-F4BA-5189-850C-986A941A7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A9FA16-3C89-DA9B-FFB4-48F75BAB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EF53B9-3C34-2364-72FD-0BF5FA969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A5422-2CD8-46F5-8AF8-18EFF824925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47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ECE1A-6F58-4F74-DFC8-7AA4D4C50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33F1DC-6FC6-911B-B64C-F1886C004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C3C8C-E4EB-901D-924A-DFAB15A8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F49DE3-9AE2-E335-3A0D-6CAE4FD9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1A4B9F-CC62-B983-8529-5066A51B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73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76D8D-01E0-8D80-9BC7-4C9B44E2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B101EA-48CD-B1E7-EB77-9196629E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86246-FA93-A720-829D-FA5CE4FA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3205C-BB55-0C2F-8321-7CB6E160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A876A1-1E8A-BBB3-BE97-761B08F5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6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DACAB-8330-B11F-678E-D219460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C52752-C727-1268-5683-D22629F41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409BC1-9678-2E13-04DA-EE539BAC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0963D-3D9B-23AD-771A-97929614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7B73BE-4006-5016-5C32-43F5145C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34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130D4-D583-277C-391A-930563AE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CC968A-212E-A916-0412-CB632519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AC2D1F-36E3-7019-72D0-39E8ADC6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75D61A-13DE-E9C5-A45A-332C3525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18D6E3-A3C7-DEA9-DC9C-93452824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DE2096-DE43-C901-8800-F3959BC8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04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E28FC-8DF9-8729-A25A-F14DF459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C22BA-5FE3-2D84-B162-1FCB5E1F8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247B60-2F8C-EA7C-A92B-47F55EB8A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B1B7AA-20E7-E276-2D1B-C030EDCFE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EF3768-91CD-5896-8726-868F3CEF0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AE2EB3-B54D-831B-D0C0-06583E27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8FB37B-E0A8-05B4-1746-E40AC5B3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75B7EAA-B470-A7B8-BF15-36628FA8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37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FC234-CC23-7E87-8E92-BD1FAEC0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CF53A3-800D-6173-6C26-24199D8D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7B83A4-0CA5-842A-F07A-4F9CD2E4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417659-0A7D-984C-B6B1-1AB0C0AF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22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58849C-5B07-B294-2D5F-8F2ABF70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B178F9-5E36-44F2-A3AC-F232BBAC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B9DB46-5CDE-1A2A-C2B0-2A47C2EF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48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0A7A2-9013-1AAC-9761-EBB2B3C6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057356-1FC7-B889-7F64-10FB649B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F6150C-E987-BBC3-E0F8-69A55FEDD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3EF479-731B-D560-A26B-975381A6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2D977B-9569-28AB-2626-E96A6B93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62B46C-7551-C6FD-7903-D860BD0C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66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BABD2-CBCF-C3C2-B839-A09183B2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317591-7B47-08C2-B0A7-4C97113ED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CECD2E-FC72-AAAF-7B96-2E1566FE7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5229BC-8D6A-AC72-848B-123ABD00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0B700F-316D-A37A-9D2C-4852220C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2490F6-6EF5-00AE-4DD1-272247C6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14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B67DD-6F60-A331-2573-BF075117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20AC32-C6DA-8BAF-26C1-C17C6EDDD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C48A7E-F89E-61AA-1270-58944B61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6604F1-AFF7-843D-DFD6-BC564B2A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2D4D03-BAA6-B522-280B-47F7E72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25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BC1967-F4DF-7EA9-D9F6-4781256B4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76B2AF-8F24-E78C-D7F8-638A5ED45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33F41F-A349-7EFF-6CFB-BEDFB61F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6F0AC0-2BC8-66A6-CADE-01F631CD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34856D-8832-AD70-6EF2-CCCC9565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53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DA65A-2F80-8831-F56C-88687A4D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7F668B-F250-72A5-716D-24B2B0F3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F0CCA2-09AA-3BE9-EB36-5C60AF628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B0419-EB90-4BC0-A522-7272FE0B557F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E6579-2CA1-53D8-8497-2AA6A5A6B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66806A-3CCD-B6EC-F82F-4645CE56B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DBCE8-E97E-4298-8318-ACBECABAA1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7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6A536-C946-CFC4-DE3D-056C61E72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91585"/>
            <a:ext cx="12192000" cy="1252437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функциональной модели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«ProBizLink»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F7FCAD-BB60-6623-AD96-7712CC8FF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0" y="4396740"/>
            <a:ext cx="3627119" cy="22250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Панков Данила Андреевич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K3240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Асламов Никита Витальевич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K3239</a:t>
            </a:r>
          </a:p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Говорова Марина Михайловна</a:t>
            </a:r>
          </a:p>
          <a:p>
            <a:pPr algn="l"/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1660CB-762F-5CA2-9E79-ECC6376E0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7" y="59860"/>
            <a:ext cx="2995960" cy="11811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950AFA7-B9A5-E12C-E856-885668EFE716}"/>
              </a:ext>
            </a:extLst>
          </p:cNvPr>
          <p:cNvSpPr txBox="1">
            <a:spLocks/>
          </p:cNvSpPr>
          <p:nvPr/>
        </p:nvSpPr>
        <p:spPr>
          <a:xfrm>
            <a:off x="0" y="5664173"/>
            <a:ext cx="12192000" cy="125243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8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F2FD242-BF09-168A-8549-31927457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Предметная область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EFB639B-93EC-8D58-66C6-40A663101F2D}"/>
              </a:ext>
            </a:extLst>
          </p:cNvPr>
          <p:cNvSpPr/>
          <p:nvPr/>
        </p:nvSpPr>
        <p:spPr>
          <a:xfrm>
            <a:off x="638242" y="1323762"/>
            <a:ext cx="10902117" cy="903226"/>
          </a:xfrm>
          <a:prstGeom prst="roundRect">
            <a:avLst>
              <a:gd name="adj" fmla="val 15312"/>
            </a:avLst>
          </a:prstGeom>
          <a:solidFill>
            <a:srgbClr val="66CC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b="1" dirty="0">
              <a:solidFill>
                <a:sysClr val="windowText" lastClr="000000"/>
              </a:solidFill>
            </a:endParaRPr>
          </a:p>
          <a:p>
            <a:endParaRPr lang="ru-RU" sz="1600" b="1" dirty="0">
              <a:solidFill>
                <a:sysClr val="windowText" lastClr="00000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ProBizLink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  <a:r>
              <a:rPr lang="ru-RU" sz="1600" dirty="0">
                <a:solidFill>
                  <a:sysClr val="windowText" lastClr="000000"/>
                </a:solidFill>
              </a:rPr>
              <a:t>— информационная система, предназначенная для взаимодействия клиентов и специалистов в сфере консультационных услуг и онлайн-обучения.</a:t>
            </a:r>
          </a:p>
          <a:p>
            <a:pPr algn="ctr"/>
            <a:endParaRPr lang="ru-RU" sz="1600" dirty="0">
              <a:solidFill>
                <a:sysClr val="windowText" lastClr="000000"/>
              </a:solidFill>
            </a:endParaRPr>
          </a:p>
          <a:p>
            <a:pPr algn="ctr"/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DF7DC10-21C4-0D07-B5A4-21C8EBB85A22}"/>
              </a:ext>
            </a:extLst>
          </p:cNvPr>
          <p:cNvSpPr/>
          <p:nvPr/>
        </p:nvSpPr>
        <p:spPr>
          <a:xfrm>
            <a:off x="651642" y="2379387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Консультации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467C0A7-A9BB-FA97-2FA8-372AC1B6F119}"/>
              </a:ext>
            </a:extLst>
          </p:cNvPr>
          <p:cNvSpPr/>
          <p:nvPr/>
        </p:nvSpPr>
        <p:spPr>
          <a:xfrm>
            <a:off x="6241967" y="4545146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3BB03974-F124-102A-5780-03312F1156B1}"/>
              </a:ext>
            </a:extLst>
          </p:cNvPr>
          <p:cNvSpPr/>
          <p:nvPr/>
        </p:nvSpPr>
        <p:spPr>
          <a:xfrm>
            <a:off x="651642" y="4545145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46194C3-D618-B7E5-9173-5007C5C90F09}"/>
              </a:ext>
            </a:extLst>
          </p:cNvPr>
          <p:cNvSpPr/>
          <p:nvPr/>
        </p:nvSpPr>
        <p:spPr>
          <a:xfrm>
            <a:off x="6241967" y="2379388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  Онлайн-курсы</a:t>
            </a:r>
          </a:p>
          <a:p>
            <a:endParaRPr lang="ru-RU" sz="2400" dirty="0">
              <a:solidFill>
                <a:schemeClr val="tx1"/>
              </a:solidFill>
            </a:endParaRPr>
          </a:p>
          <a:p>
            <a:endParaRPr lang="ru-RU" sz="2400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B0B412B-851B-C790-A44C-4833EBEC1E61}"/>
              </a:ext>
            </a:extLst>
          </p:cNvPr>
          <p:cNvSpPr/>
          <p:nvPr/>
        </p:nvSpPr>
        <p:spPr>
          <a:xfrm>
            <a:off x="1649338" y="3012149"/>
            <a:ext cx="3563597" cy="11811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Поиск и выбор специалистов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Организация консультаций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Заявка и запись на консультации</a:t>
            </a:r>
          </a:p>
          <a:p>
            <a:pPr algn="ctr"/>
            <a:endParaRPr lang="ru-RU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C2678A2-39DD-3001-8EC4-92B0F232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84" y="2574880"/>
            <a:ext cx="807854" cy="757363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F9B62B2-8E7B-7B1F-AD38-F672818B3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246" y="2583294"/>
            <a:ext cx="779804" cy="740533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B7A3E4EC-8F66-0ABD-DF7A-D2263DE9A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246" y="4730855"/>
            <a:ext cx="768583" cy="740533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4BF49F0C-94C8-6D52-728B-EC89EE655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9" y="4739760"/>
            <a:ext cx="757363" cy="740533"/>
          </a:xfrm>
          <a:prstGeom prst="rect">
            <a:avLst/>
          </a:prstGeom>
        </p:spPr>
      </p:pic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6FE4B8FF-0D52-F246-E42F-B9238EEC7901}"/>
              </a:ext>
            </a:extLst>
          </p:cNvPr>
          <p:cNvSpPr/>
          <p:nvPr/>
        </p:nvSpPr>
        <p:spPr>
          <a:xfrm>
            <a:off x="7290829" y="3024724"/>
            <a:ext cx="3563597" cy="11811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Создание и размещение курсов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Публикация материалов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Запись клиентов на курсы</a:t>
            </a:r>
          </a:p>
          <a:p>
            <a:pPr algn="ctr"/>
            <a:endParaRPr lang="ru-RU" dirty="0"/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BAB48DE9-C927-114C-D5E4-2923D058721C}"/>
              </a:ext>
            </a:extLst>
          </p:cNvPr>
          <p:cNvSpPr/>
          <p:nvPr/>
        </p:nvSpPr>
        <p:spPr>
          <a:xfrm>
            <a:off x="651642" y="4545145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Отзывы и рейтинги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B2F47667-81EF-A9F1-8800-79F9EAE2F6EC}"/>
              </a:ext>
            </a:extLst>
          </p:cNvPr>
          <p:cNvSpPr/>
          <p:nvPr/>
        </p:nvSpPr>
        <p:spPr>
          <a:xfrm>
            <a:off x="6241966" y="4547741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Финансовые операции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3082AE91-C4FD-F547-5FA6-66626E29D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246" y="4742075"/>
            <a:ext cx="779804" cy="729313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60D7DA29-59B5-46DD-49BF-6BD502DAA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484" y="4649801"/>
            <a:ext cx="807854" cy="729313"/>
          </a:xfrm>
          <a:prstGeom prst="rect">
            <a:avLst/>
          </a:prstGeom>
        </p:spPr>
      </p:pic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4CE34951-ADAE-CFF9-CD79-32F1CE421F44}"/>
              </a:ext>
            </a:extLst>
          </p:cNvPr>
          <p:cNvSpPr/>
          <p:nvPr/>
        </p:nvSpPr>
        <p:spPr>
          <a:xfrm>
            <a:off x="7290828" y="5221703"/>
            <a:ext cx="3563597" cy="11811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Оплата консультаций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Оплата курсов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Комиссия платформы</a:t>
            </a:r>
          </a:p>
          <a:p>
            <a:pPr algn="ctr"/>
            <a:endParaRPr lang="ru-RU" dirty="0"/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972440CB-01E7-69BD-9CDB-2E024F4DCB29}"/>
              </a:ext>
            </a:extLst>
          </p:cNvPr>
          <p:cNvSpPr/>
          <p:nvPr/>
        </p:nvSpPr>
        <p:spPr>
          <a:xfrm>
            <a:off x="1674583" y="5161961"/>
            <a:ext cx="3563597" cy="11811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Оценка специалистов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Оставление отзывов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Формирование рейтинга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0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2E17-31FD-9F55-7A87-8DE19994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2223CD-D719-A6C2-1B77-9F4F423B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Участники информационной системы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0C03993-31EB-BD20-81DA-D39A7D89775C}"/>
              </a:ext>
            </a:extLst>
          </p:cNvPr>
          <p:cNvSpPr/>
          <p:nvPr/>
        </p:nvSpPr>
        <p:spPr>
          <a:xfrm>
            <a:off x="638240" y="1361477"/>
            <a:ext cx="10902117" cy="903226"/>
          </a:xfrm>
          <a:prstGeom prst="roundRect">
            <a:avLst>
              <a:gd name="adj" fmla="val 15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b="1" dirty="0">
              <a:solidFill>
                <a:sysClr val="windowText" lastClr="000000"/>
              </a:solidFill>
            </a:endParaRPr>
          </a:p>
          <a:p>
            <a:endParaRPr lang="ru-RU" sz="1600" b="1" dirty="0">
              <a:solidFill>
                <a:sysClr val="windowText" lastClr="000000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 работе платформы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ProBizLink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участвуют четыре основных типа пользователей, каждый их которых выполняет свои функции и имеет определённые возможности</a:t>
            </a:r>
          </a:p>
          <a:p>
            <a:pPr algn="ctr"/>
            <a:endParaRPr lang="ru-RU" sz="1600" dirty="0">
              <a:solidFill>
                <a:sysClr val="windowText" lastClr="000000"/>
              </a:solidFill>
            </a:endParaRPr>
          </a:p>
          <a:p>
            <a:pPr algn="ctr"/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57C3541-B3F1-56E8-EA2B-5BF41172B08D}"/>
              </a:ext>
            </a:extLst>
          </p:cNvPr>
          <p:cNvSpPr/>
          <p:nvPr/>
        </p:nvSpPr>
        <p:spPr>
          <a:xfrm>
            <a:off x="651642" y="2379387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Клиент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C76A8C51-12FD-D9BC-C58E-BE57ECFBEBCA}"/>
              </a:ext>
            </a:extLst>
          </p:cNvPr>
          <p:cNvSpPr/>
          <p:nvPr/>
        </p:nvSpPr>
        <p:spPr>
          <a:xfrm>
            <a:off x="6241967" y="4545146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35BD70F-A25D-4D3E-679E-AAD90149B676}"/>
              </a:ext>
            </a:extLst>
          </p:cNvPr>
          <p:cNvSpPr/>
          <p:nvPr/>
        </p:nvSpPr>
        <p:spPr>
          <a:xfrm>
            <a:off x="651642" y="4545145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688F28E-B8F6-0771-BACB-5A906A397B40}"/>
              </a:ext>
            </a:extLst>
          </p:cNvPr>
          <p:cNvSpPr/>
          <p:nvPr/>
        </p:nvSpPr>
        <p:spPr>
          <a:xfrm>
            <a:off x="6241967" y="2379388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  Специалист</a:t>
            </a:r>
          </a:p>
          <a:p>
            <a:endParaRPr lang="ru-RU" sz="2400" dirty="0">
              <a:solidFill>
                <a:schemeClr val="tx1"/>
              </a:solidFill>
            </a:endParaRPr>
          </a:p>
          <a:p>
            <a:endParaRPr lang="ru-RU" sz="2400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4D6ACBED-D862-512E-EA16-6B5DCD8780E2}"/>
              </a:ext>
            </a:extLst>
          </p:cNvPr>
          <p:cNvSpPr/>
          <p:nvPr/>
        </p:nvSpPr>
        <p:spPr>
          <a:xfrm>
            <a:off x="1691433" y="3161578"/>
            <a:ext cx="3563597" cy="1069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Поиск и выбор специалистов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Создание заявок на консультации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Запись на онлайн-курсы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Отзывы и оценки</a:t>
            </a:r>
          </a:p>
          <a:p>
            <a:pPr algn="ctr"/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E0FCAF5-45C9-CAA9-F817-D25767445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246" y="4730855"/>
            <a:ext cx="768583" cy="740533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CEEB5FF-30BB-1482-ACF9-44F5073C6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29" y="4739760"/>
            <a:ext cx="757363" cy="740533"/>
          </a:xfrm>
          <a:prstGeom prst="rect">
            <a:avLst/>
          </a:prstGeom>
        </p:spPr>
      </p:pic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F3B2AD75-89E9-BF5F-B04E-79E11762E1B0}"/>
              </a:ext>
            </a:extLst>
          </p:cNvPr>
          <p:cNvSpPr/>
          <p:nvPr/>
        </p:nvSpPr>
        <p:spPr>
          <a:xfrm>
            <a:off x="651642" y="4545145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Администратор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FDABC335-D0E2-F023-0916-6B4940C65EC1}"/>
              </a:ext>
            </a:extLst>
          </p:cNvPr>
          <p:cNvSpPr/>
          <p:nvPr/>
        </p:nvSpPr>
        <p:spPr>
          <a:xfrm>
            <a:off x="6241965" y="4545145"/>
            <a:ext cx="5298392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              Владелец платформы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                      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842DDC-687D-A31A-A3C0-A70652561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59" y="2544467"/>
            <a:ext cx="723703" cy="6171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DE5FFE-1B55-C1E3-9CA3-496F32CBB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246" y="2544467"/>
            <a:ext cx="673212" cy="6844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A2967F-F6C9-5E6F-95FC-CA4BDC271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4560" y="4686266"/>
            <a:ext cx="768583" cy="65638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6F0533-7EE1-3271-E409-4D20BC714F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28" y="4708706"/>
            <a:ext cx="723703" cy="633941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D155F3F-4279-EB44-0D6B-10FF4DD379C3}"/>
              </a:ext>
            </a:extLst>
          </p:cNvPr>
          <p:cNvSpPr/>
          <p:nvPr/>
        </p:nvSpPr>
        <p:spPr>
          <a:xfrm>
            <a:off x="7345161" y="3182589"/>
            <a:ext cx="3912496" cy="1069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Профиль и компетенции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Обработка заявок на консультации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Размещение и проведение онлайн-курсов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Ведение расписания</a:t>
            </a:r>
          </a:p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2C26E76-2F64-19DD-CCDA-C894A6DAB702}"/>
              </a:ext>
            </a:extLst>
          </p:cNvPr>
          <p:cNvSpPr/>
          <p:nvPr/>
        </p:nvSpPr>
        <p:spPr>
          <a:xfrm>
            <a:off x="1638117" y="5205612"/>
            <a:ext cx="4176853" cy="1069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Модерация профилей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Модерация услуг и курсов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Контроль качества и соблюдения правил</a:t>
            </a:r>
          </a:p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9AC3144-4006-A06A-B1D2-C1BCD35E8881}"/>
              </a:ext>
            </a:extLst>
          </p:cNvPr>
          <p:cNvSpPr/>
          <p:nvPr/>
        </p:nvSpPr>
        <p:spPr>
          <a:xfrm>
            <a:off x="7243143" y="5273665"/>
            <a:ext cx="4176853" cy="1069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Комиссия с консультаций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Процент от продажи курсов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Контроль финансовых показателей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Принятие стратегических решений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98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BDDE4-30A2-4B99-E131-EA55FFDA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8D4307-2D2E-31D3-6F77-0ADBCC87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Цель и задачи проекта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CC58EE9-0B7D-15B2-B726-F5900A2CF44E}"/>
              </a:ext>
            </a:extLst>
          </p:cNvPr>
          <p:cNvSpPr/>
          <p:nvPr/>
        </p:nvSpPr>
        <p:spPr>
          <a:xfrm>
            <a:off x="651642" y="1131038"/>
            <a:ext cx="10902117" cy="190571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tx1"/>
                </a:solidFill>
              </a:rPr>
              <a:t>Цель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Спроектировать функциональную модель информационной системы </a:t>
            </a:r>
            <a:r>
              <a:rPr lang="en-US" sz="2000" b="1" dirty="0" err="1">
                <a:solidFill>
                  <a:schemeClr val="tx1"/>
                </a:solidFill>
              </a:rPr>
              <a:t>ProBizLink</a:t>
            </a:r>
            <a:r>
              <a:rPr lang="ru-RU" sz="2000" dirty="0">
                <a:solidFill>
                  <a:schemeClr val="tx1"/>
                </a:solidFill>
              </a:rPr>
              <a:t>, отражающую основные процессы взаимодействия клиентов, специалистов, администратора и владельца платформы</a:t>
            </a:r>
            <a:endParaRPr lang="ru-RU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1B71909-470F-37E1-9109-2C588363053A}"/>
              </a:ext>
            </a:extLst>
          </p:cNvPr>
          <p:cNvSpPr/>
          <p:nvPr/>
        </p:nvSpPr>
        <p:spPr>
          <a:xfrm>
            <a:off x="651642" y="3227615"/>
            <a:ext cx="10902118" cy="333464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tx1"/>
                </a:solidFill>
              </a:rPr>
              <a:t>Задачи</a:t>
            </a:r>
            <a:endParaRPr lang="ru-RU" sz="2800" b="1" dirty="0">
              <a:solidFill>
                <a:schemeClr val="tx1"/>
              </a:solidFill>
            </a:endParaRPr>
          </a:p>
          <a:p>
            <a:endParaRPr lang="ru-RU" sz="28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Определить назначение системы и её участников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Выделить основные процессы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Выделить потоки данных для внешних сущностей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Составить контекстную диаграмму нулевого уровня (</a:t>
            </a:r>
            <a:r>
              <a:rPr lang="en-US" sz="2000" dirty="0">
                <a:solidFill>
                  <a:schemeClr val="tx1"/>
                </a:solidFill>
              </a:rPr>
              <a:t>A-0)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Составить матрицу списка событий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Составить детализированную контекстную диаграмму (</a:t>
            </a:r>
            <a:r>
              <a:rPr lang="en-US" sz="2000" dirty="0">
                <a:solidFill>
                  <a:schemeClr val="tx1"/>
                </a:solidFill>
              </a:rPr>
              <a:t>A0)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</a:rPr>
              <a:t>Детализировать процесс 3.0 «Обрабатывать консультации» (A-3)</a:t>
            </a:r>
          </a:p>
        </p:txBody>
      </p:sp>
    </p:spTree>
    <p:extLst>
      <p:ext uri="{BB962C8B-B14F-4D97-AF65-F5344CB8AC3E}">
        <p14:creationId xmlns:p14="http://schemas.microsoft.com/office/powerpoint/2010/main" val="230295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97F8-D6A1-E52E-BB6B-FA2F163A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2C113E9-C14F-894D-4465-66E6337B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Методы и средства проектирования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FB1EDB3F-6132-915B-56CB-D7EF4E6BCB29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F5A23BB4-5B76-0D23-E86F-A96CA2CEA1EE}"/>
              </a:ext>
            </a:extLst>
          </p:cNvPr>
          <p:cNvSpPr txBox="1">
            <a:spLocks/>
          </p:cNvSpPr>
          <p:nvPr/>
        </p:nvSpPr>
        <p:spPr>
          <a:xfrm>
            <a:off x="638239" y="2785061"/>
            <a:ext cx="10902117" cy="38223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000" dirty="0">
              <a:latin typeface="+mn-lt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647AEB2-FAD0-809E-7DFE-AFB91DA8AEAA}"/>
              </a:ext>
            </a:extLst>
          </p:cNvPr>
          <p:cNvSpPr/>
          <p:nvPr/>
        </p:nvSpPr>
        <p:spPr>
          <a:xfrm>
            <a:off x="638238" y="1388335"/>
            <a:ext cx="3446652" cy="502492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Метод моделирования</a:t>
            </a:r>
          </a:p>
          <a:p>
            <a:pPr algn="ctr"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DFD</a:t>
            </a:r>
            <a:r>
              <a:rPr lang="en-US" dirty="0">
                <a:solidFill>
                  <a:schemeClr val="tx1"/>
                </a:solidFill>
              </a:rPr>
              <a:t> –</a:t>
            </a:r>
            <a:r>
              <a:rPr lang="ru-RU" dirty="0">
                <a:solidFill>
                  <a:schemeClr val="tx1"/>
                </a:solidFill>
              </a:rPr>
              <a:t> диаграммы потоков данных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Используются для представления процессов системы, внешних сущностей, потоков данных и хранилищ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2FBAB93-C072-1499-DFD0-F0EED8BE941F}"/>
              </a:ext>
            </a:extLst>
          </p:cNvPr>
          <p:cNvSpPr/>
          <p:nvPr/>
        </p:nvSpPr>
        <p:spPr>
          <a:xfrm>
            <a:off x="4372674" y="1388334"/>
            <a:ext cx="3446652" cy="502492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F5B8A47-79E2-9309-8A45-53831481F0F9}"/>
              </a:ext>
            </a:extLst>
          </p:cNvPr>
          <p:cNvSpPr/>
          <p:nvPr/>
        </p:nvSpPr>
        <p:spPr>
          <a:xfrm>
            <a:off x="8107110" y="1417732"/>
            <a:ext cx="3446652" cy="502492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DA7E691-3F6C-E104-D9BC-AC3567854B16}"/>
              </a:ext>
            </a:extLst>
          </p:cNvPr>
          <p:cNvSpPr/>
          <p:nvPr/>
        </p:nvSpPr>
        <p:spPr>
          <a:xfrm>
            <a:off x="4379376" y="1378764"/>
            <a:ext cx="3446652" cy="502492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Средство разработки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Draw.io</a:t>
            </a:r>
            <a:r>
              <a:rPr lang="ru-RU" b="1" dirty="0">
                <a:solidFill>
                  <a:schemeClr val="tx1"/>
                </a:solidFill>
              </a:rPr>
              <a:t> (</a:t>
            </a:r>
            <a:r>
              <a:rPr lang="en-US" b="1" dirty="0">
                <a:solidFill>
                  <a:schemeClr val="tx1"/>
                </a:solidFill>
              </a:rPr>
              <a:t>Diagrams.net)</a:t>
            </a:r>
            <a:endParaRPr lang="ru-RU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Используется для построения и графического оформления функциональной модели информационной системы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dirty="0">
              <a:solidFill>
                <a:srgbClr val="0070C0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5D49480-C692-F909-3C09-8AD7F59EA4FC}"/>
              </a:ext>
            </a:extLst>
          </p:cNvPr>
          <p:cNvSpPr/>
          <p:nvPr/>
        </p:nvSpPr>
        <p:spPr>
          <a:xfrm>
            <a:off x="8120514" y="1417732"/>
            <a:ext cx="3446652" cy="502492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Принцип проектирования</a:t>
            </a: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chemeClr val="tx1"/>
                </a:solidFill>
              </a:rPr>
              <a:t>Постепенная детализация</a:t>
            </a: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Система рассматривается сначала в общем виде, после чего отдельные процессы детализируются</a:t>
            </a: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B08AE78-57D3-9F9C-89EA-4CF4C2958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49" y="5077096"/>
            <a:ext cx="1795231" cy="117812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C72C217-8998-44A3-260B-4119D788B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146" y="5096794"/>
            <a:ext cx="1518301" cy="1138726"/>
          </a:xfrm>
          <a:prstGeom prst="rect">
            <a:avLst/>
          </a:prstGeom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F61D85E-04D0-0E4D-271A-7E79E0A5BDA6}"/>
              </a:ext>
            </a:extLst>
          </p:cNvPr>
          <p:cNvSpPr/>
          <p:nvPr/>
        </p:nvSpPr>
        <p:spPr>
          <a:xfrm>
            <a:off x="8340695" y="5324030"/>
            <a:ext cx="649481" cy="56747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A-0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CFEC40F0-2343-224E-8E27-0A486ADE7F63}"/>
              </a:ext>
            </a:extLst>
          </p:cNvPr>
          <p:cNvSpPr/>
          <p:nvPr/>
        </p:nvSpPr>
        <p:spPr>
          <a:xfrm>
            <a:off x="9519099" y="5324030"/>
            <a:ext cx="649481" cy="56747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A0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E6FF3A7-5581-61C7-7A27-DE97B9216E8C}"/>
              </a:ext>
            </a:extLst>
          </p:cNvPr>
          <p:cNvSpPr/>
          <p:nvPr/>
        </p:nvSpPr>
        <p:spPr>
          <a:xfrm>
            <a:off x="10697503" y="5324030"/>
            <a:ext cx="649481" cy="56747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A3</a:t>
            </a:r>
            <a:endParaRPr lang="ru-RU" sz="2000" dirty="0">
              <a:solidFill>
                <a:srgbClr val="002060"/>
              </a:solidFill>
            </a:endParaRP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1E44F6E-4D44-692C-1834-6CB1BD7FF555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8990176" y="5607767"/>
            <a:ext cx="528923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5E4DC0DE-2D17-7404-7B12-F48E2BE4BB6E}"/>
              </a:ext>
            </a:extLst>
          </p:cNvPr>
          <p:cNvCxnSpPr/>
          <p:nvPr/>
        </p:nvCxnSpPr>
        <p:spPr>
          <a:xfrm>
            <a:off x="10168580" y="5607766"/>
            <a:ext cx="528923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71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D6C0D-E5BB-B5E8-0471-68035018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69CC50-DA58-419B-C77E-D6706919C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Контекстная диаграмма (</a:t>
            </a:r>
            <a:r>
              <a:rPr lang="en-US" sz="4800" b="1" dirty="0"/>
              <a:t>A-0)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FEA6A952-7847-5F46-7801-354466888858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F1B4311C-219E-350D-F51C-87AB61B21512}"/>
              </a:ext>
            </a:extLst>
          </p:cNvPr>
          <p:cNvSpPr txBox="1">
            <a:spLocks/>
          </p:cNvSpPr>
          <p:nvPr/>
        </p:nvSpPr>
        <p:spPr>
          <a:xfrm>
            <a:off x="4936273" y="2785061"/>
            <a:ext cx="6604083" cy="38223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+mn-lt"/>
              </a:rPr>
              <a:t>У меня её нет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DBE0B4-EF37-BC2A-2F68-D2DBDD76D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980" y="913405"/>
            <a:ext cx="8866039" cy="575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4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631E-7AE1-EBC0-9D49-A5C318D4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12E3C06-470F-E085-1213-3844B25D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39" y="-113365"/>
            <a:ext cx="10902117" cy="1325563"/>
          </a:xfrm>
        </p:spPr>
        <p:txBody>
          <a:bodyPr>
            <a:normAutofit/>
          </a:bodyPr>
          <a:lstStyle/>
          <a:p>
            <a:r>
              <a:rPr lang="ru-RU" sz="4300" b="1" dirty="0"/>
              <a:t>Матрица списка событий</a:t>
            </a:r>
            <a:endParaRPr lang="ru-RU" sz="43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167C66A1-73C7-8F51-41E3-0EE8B3C2528C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265826-45E5-F176-E5D0-E6049BDC2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81182"/>
              </p:ext>
            </p:extLst>
          </p:nvPr>
        </p:nvGraphicFramePr>
        <p:xfrm>
          <a:off x="277961" y="1212197"/>
          <a:ext cx="11765356" cy="55454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346">
                  <a:extLst>
                    <a:ext uri="{9D8B030D-6E8A-4147-A177-3AD203B41FA5}">
                      <a16:colId xmlns:a16="http://schemas.microsoft.com/office/drawing/2014/main" val="1160357061"/>
                    </a:ext>
                  </a:extLst>
                </a:gridCol>
                <a:gridCol w="2795026">
                  <a:extLst>
                    <a:ext uri="{9D8B030D-6E8A-4147-A177-3AD203B41FA5}">
                      <a16:colId xmlns:a16="http://schemas.microsoft.com/office/drawing/2014/main" val="493475656"/>
                    </a:ext>
                  </a:extLst>
                </a:gridCol>
                <a:gridCol w="2342390">
                  <a:extLst>
                    <a:ext uri="{9D8B030D-6E8A-4147-A177-3AD203B41FA5}">
                      <a16:colId xmlns:a16="http://schemas.microsoft.com/office/drawing/2014/main" val="1114889051"/>
                    </a:ext>
                  </a:extLst>
                </a:gridCol>
                <a:gridCol w="2455550">
                  <a:extLst>
                    <a:ext uri="{9D8B030D-6E8A-4147-A177-3AD203B41FA5}">
                      <a16:colId xmlns:a16="http://schemas.microsoft.com/office/drawing/2014/main" val="3903929822"/>
                    </a:ext>
                  </a:extLst>
                </a:gridCol>
                <a:gridCol w="3614044">
                  <a:extLst>
                    <a:ext uri="{9D8B030D-6E8A-4147-A177-3AD203B41FA5}">
                      <a16:colId xmlns:a16="http://schemas.microsoft.com/office/drawing/2014/main" val="4053140856"/>
                    </a:ext>
                  </a:extLst>
                </a:gridCol>
              </a:tblGrid>
              <a:tr h="418526">
                <a:tc>
                  <a:txBody>
                    <a:bodyPr/>
                    <a:lstStyle/>
                    <a:p>
                      <a:r>
                        <a:rPr lang="ru-RU" b="1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Событие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Инициатор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Входные 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412023"/>
                  </a:ext>
                </a:extLst>
              </a:tr>
              <a:tr h="658063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Регистрация клиента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Создан профиль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344915"/>
                  </a:ext>
                </a:extLst>
              </a:tr>
              <a:tr h="388239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Поиск специалиста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Параметры поиска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Список специалистов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84898"/>
                  </a:ext>
                </a:extLst>
              </a:tr>
              <a:tr h="487951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Создание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Заявка на консультацию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844625"/>
                  </a:ext>
                </a:extLst>
              </a:tr>
              <a:tr h="388239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Обработка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Специалист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Ответ на заявку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27987"/>
                  </a:ext>
                </a:extLst>
              </a:tr>
              <a:tr h="658063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 консультации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 / специалист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Дата, 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Запланированная консультация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331454"/>
                  </a:ext>
                </a:extLst>
              </a:tr>
              <a:tr h="388239"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Размещение курса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Специалист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курса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Опубликованный курс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678976"/>
                  </a:ext>
                </a:extLst>
              </a:tr>
              <a:tr h="383590"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Запись на курс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записи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Запись клиента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97874"/>
                  </a:ext>
                </a:extLst>
              </a:tr>
              <a:tr h="658063"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Модерация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Профиль / услуга / курс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Одобрение или отклонение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471604"/>
                  </a:ext>
                </a:extLst>
              </a:tr>
              <a:tr h="458405"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Оплата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Платёжные 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Подтверждение оплаты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269377"/>
                  </a:ext>
                </a:extLst>
              </a:tr>
              <a:tr h="658063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Формирование статистики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Владелец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Финансовые 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Статистика и комиссии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31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47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702B-2FC0-411A-19F8-66C856B0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9A63313-91AB-C2DE-F09C-81D9179A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Детализированная диаграмма (</a:t>
            </a:r>
            <a:r>
              <a:rPr lang="en-US" sz="4800" b="1" dirty="0"/>
              <a:t>A0)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E47E46AD-5D03-ABB9-FE54-7A23F5836727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963C4-64F0-BE3C-0D55-3124AD8A4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2" y="913405"/>
            <a:ext cx="11213256" cy="581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6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7692-CE38-5BFA-BAD9-F8FBE8F6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C990223-2B12-7451-B605-61718DAF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Декомпозиция процесса 3.0 (</a:t>
            </a:r>
            <a:r>
              <a:rPr lang="en-US" sz="4800" b="1" dirty="0"/>
              <a:t>A3)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392B2ECC-7BF3-1775-79D8-C167E5CC1577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239744-327F-1100-74E8-C1FB812FE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458" y="922862"/>
            <a:ext cx="7969083" cy="52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8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C20E-F10C-65E5-A365-305B18A1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6AAD205-85B9-A8F0-82CA-7239092D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250624"/>
            <a:ext cx="10902117" cy="1325563"/>
          </a:xfrm>
        </p:spPr>
        <p:txBody>
          <a:bodyPr>
            <a:normAutofit fontScale="90000"/>
          </a:bodyPr>
          <a:lstStyle/>
          <a:p>
            <a:r>
              <a:rPr lang="ru-RU" sz="4800" b="1" dirty="0"/>
              <a:t>Результаты и выводы</a:t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B8AD662D-7118-A0C7-5DB3-63C658507AC2}"/>
              </a:ext>
            </a:extLst>
          </p:cNvPr>
          <p:cNvSpPr txBox="1">
            <a:spLocks/>
          </p:cNvSpPr>
          <p:nvPr/>
        </p:nvSpPr>
        <p:spPr>
          <a:xfrm>
            <a:off x="554630" y="1145464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8DAF095-7456-10FA-6929-C00A7D3C22F6}"/>
              </a:ext>
            </a:extLst>
          </p:cNvPr>
          <p:cNvSpPr/>
          <p:nvPr/>
        </p:nvSpPr>
        <p:spPr>
          <a:xfrm>
            <a:off x="3212105" y="1145464"/>
            <a:ext cx="2793584" cy="397969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Выделены основные процессы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Определены процессы управления пользователями, консультациями, онлайн-курсами, платежами и статистикой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4D806F5-6DEF-1CC7-383D-31F8821BBD85}"/>
              </a:ext>
            </a:extLst>
          </p:cNvPr>
          <p:cNvSpPr/>
          <p:nvPr/>
        </p:nvSpPr>
        <p:spPr>
          <a:xfrm>
            <a:off x="6186312" y="1145464"/>
            <a:ext cx="2793584" cy="397969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Построена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 функциональная модель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Разработаны контекстная диаграмма </a:t>
            </a:r>
            <a:r>
              <a:rPr lang="en-US" sz="1600" dirty="0">
                <a:solidFill>
                  <a:schemeClr val="tx1"/>
                </a:solidFill>
              </a:rPr>
              <a:t>A-0</a:t>
            </a:r>
            <a:r>
              <a:rPr lang="ru-RU" sz="1600" dirty="0">
                <a:solidFill>
                  <a:schemeClr val="tx1"/>
                </a:solidFill>
              </a:rPr>
              <a:t>, дета -</a:t>
            </a:r>
            <a:r>
              <a:rPr lang="ru-RU" sz="1600" dirty="0" err="1">
                <a:solidFill>
                  <a:schemeClr val="tx1"/>
                </a:solidFill>
              </a:rPr>
              <a:t>лизированная</a:t>
            </a:r>
            <a:r>
              <a:rPr lang="ru-RU" sz="1600" dirty="0">
                <a:solidFill>
                  <a:schemeClr val="tx1"/>
                </a:solidFill>
              </a:rPr>
              <a:t> диаграмма </a:t>
            </a:r>
            <a:r>
              <a:rPr lang="en-US" sz="1600" dirty="0">
                <a:solidFill>
                  <a:schemeClr val="tx1"/>
                </a:solidFill>
              </a:rPr>
              <a:t>A0</a:t>
            </a:r>
            <a:r>
              <a:rPr lang="ru-RU" sz="1600" dirty="0">
                <a:solidFill>
                  <a:schemeClr val="tx1"/>
                </a:solidFill>
              </a:rPr>
              <a:t> и диаграмма </a:t>
            </a:r>
            <a:r>
              <a:rPr lang="en-US" sz="1600" dirty="0">
                <a:solidFill>
                  <a:schemeClr val="tx1"/>
                </a:solidFill>
              </a:rPr>
              <a:t>A3</a:t>
            </a: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0D8C7F9-166F-43FD-DA80-C01C4DA30276}"/>
              </a:ext>
            </a:extLst>
          </p:cNvPr>
          <p:cNvSpPr/>
          <p:nvPr/>
        </p:nvSpPr>
        <p:spPr>
          <a:xfrm>
            <a:off x="224496" y="1145464"/>
            <a:ext cx="2793584" cy="397969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Определена предметная область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Выделены назначение системы </a:t>
            </a:r>
            <a:r>
              <a:rPr lang="en-US" sz="1600" dirty="0" err="1">
                <a:solidFill>
                  <a:schemeClr val="tx1"/>
                </a:solidFill>
              </a:rPr>
              <a:t>ProBizLink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и основные участники взаимодействия</a:t>
            </a: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C095D25-557F-1014-BF17-B96E817C9139}"/>
              </a:ext>
            </a:extLst>
          </p:cNvPr>
          <p:cNvSpPr/>
          <p:nvPr/>
        </p:nvSpPr>
        <p:spPr>
          <a:xfrm>
            <a:off x="9160519" y="1145464"/>
            <a:ext cx="2793584" cy="397969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/>
                </a:solidFill>
              </a:rPr>
              <a:t>Определены информационные потоки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</a:rPr>
              <a:t>Показаны основные входные и выходные данные между системой и внешними сущностями</a:t>
            </a: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125110C-EBAD-D7B9-FAA2-261617B581E2}"/>
              </a:ext>
            </a:extLst>
          </p:cNvPr>
          <p:cNvSpPr/>
          <p:nvPr/>
        </p:nvSpPr>
        <p:spPr>
          <a:xfrm>
            <a:off x="224496" y="5439889"/>
            <a:ext cx="11729607" cy="116748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</a:rPr>
              <a:t>В результате сформирована функциональная модель информационной системы </a:t>
            </a:r>
            <a:r>
              <a:rPr lang="en-US" sz="2200" b="1" dirty="0" err="1">
                <a:solidFill>
                  <a:schemeClr val="tx1"/>
                </a:solidFill>
              </a:rPr>
              <a:t>ProBizLink</a:t>
            </a:r>
            <a:r>
              <a:rPr lang="ru-RU" sz="2200" dirty="0">
                <a:solidFill>
                  <a:schemeClr val="tx1"/>
                </a:solidFill>
              </a:rPr>
              <a:t>, отражающая её основные процессы и взаимодействия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707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70D62-3C51-C6C6-2018-7FB4B374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9966224-6AEE-A957-AAD2-67461BD9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/>
              <a:t>Спасибо за внимание!</a:t>
            </a:r>
            <a:endParaRPr lang="ru-RU" sz="4800" dirty="0"/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87122C24-EEAC-9C11-61A8-FE8AC30AFCF1}"/>
              </a:ext>
            </a:extLst>
          </p:cNvPr>
          <p:cNvSpPr txBox="1">
            <a:spLocks/>
          </p:cNvSpPr>
          <p:nvPr/>
        </p:nvSpPr>
        <p:spPr>
          <a:xfrm>
            <a:off x="638240" y="1172145"/>
            <a:ext cx="10902117" cy="15197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latin typeface="+mn-lt"/>
            </a:endParaRP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87D84467-3B99-03D1-266D-AD3A61882A60}"/>
              </a:ext>
            </a:extLst>
          </p:cNvPr>
          <p:cNvSpPr txBox="1">
            <a:spLocks/>
          </p:cNvSpPr>
          <p:nvPr/>
        </p:nvSpPr>
        <p:spPr>
          <a:xfrm>
            <a:off x="644941" y="2785061"/>
            <a:ext cx="10902117" cy="38223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56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578</Words>
  <Application>Microsoft Office PowerPoint</Application>
  <PresentationFormat>Широкоэкранный</PresentationFormat>
  <Paragraphs>184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Проектирование функциональной модели информационной системы «ProBizLink» </vt:lpstr>
      <vt:lpstr>Предметная область </vt:lpstr>
      <vt:lpstr>Участники информационной системы </vt:lpstr>
      <vt:lpstr>Цель и задачи проекта </vt:lpstr>
      <vt:lpstr>Методы и средства проектирования </vt:lpstr>
      <vt:lpstr>Контекстная диаграмма (A-0) </vt:lpstr>
      <vt:lpstr>Матрица списка событий</vt:lpstr>
      <vt:lpstr>Детализированная диаграмма (A0) </vt:lpstr>
      <vt:lpstr>Декомпозиция процесса 3.0 (A3) </vt:lpstr>
      <vt:lpstr>Результаты и выводы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Данила Панков</dc:creator>
  <cp:lastModifiedBy>Данила Панков</cp:lastModifiedBy>
  <cp:revision>2</cp:revision>
  <dcterms:created xsi:type="dcterms:W3CDTF">2026-10-01T14:35:56Z</dcterms:created>
  <dcterms:modified xsi:type="dcterms:W3CDTF">2026-10-01T17:39:27Z</dcterms:modified>
</cp:coreProperties>
</file>